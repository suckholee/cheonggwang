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194560"/>
            <a:ext cx="121916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111827"/>
                </a:solidFill>
              </a:rPr>
              <a:t>월렛지기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108960"/>
            <a:ext cx="121916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6B7280"/>
                </a:solidFill>
              </a:rPr>
              <a:t>스토리보드 (화면 정의서)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3840480"/>
            <a:ext cx="3047695" cy="254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0" y="4114800"/>
            <a:ext cx="121916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11827"/>
                </a:solidFill>
              </a:rPr>
              <a:t>v0.1 · 2026-04-25</a:t>
            </a:r>
          </a:p>
          <a:p>
            <a:pPr algn="ctr"/>
            <a:r>
              <a:rPr sz="1200" b="0">
                <a:solidFill>
                  <a:srgbClr val="6B7280"/>
                </a:solidFill>
              </a:rPr>
              <a:t>작성: 이석호 / UX팀</a:t>
            </a:r>
          </a:p>
          <a:p>
            <a:pPr algn="ctr"/>
            <a:r>
              <a:rPr sz="1200" b="0">
                <a:solidFill>
                  <a:srgbClr val="6B7280"/>
                </a:solidFill>
              </a:rPr>
              <a:t>클라이언트: (주)데모</a:t>
            </a:r>
          </a:p>
          <a:p>
            <a:pPr algn="ctr"/>
            <a:r>
              <a:rPr sz="1200" b="0">
                <a:solidFill>
                  <a:srgbClr val="6B7280"/>
                </a:solidFill>
              </a:rPr>
              <a:t>플랫폼: 모바일 앱</a:t>
            </a:r>
          </a:p>
          <a:p>
            <a:pPr algn="ctr"/>
            <a:r>
              <a:rPr sz="1200" b="0">
                <a:solidFill>
                  <a:srgbClr val="6B7280"/>
                </a:solidFill>
              </a:rPr>
              <a:t>용도: 개발 착수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65760"/>
            <a:ext cx="121916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111827"/>
                </a:solidFill>
              </a:rPr>
              <a:t>개정 이력 (Revision History)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280160"/>
          <a:ext cx="9448495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463040"/>
                <a:gridCol w="1645920"/>
                <a:gridCol w="5242255"/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Version</a:t>
                      </a:r>
                    </a:p>
                  </a:txBody>
                  <a:tcPr>
                    <a:solidFill>
                      <a:srgbClr val="6B72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Date</a:t>
                      </a:r>
                    </a:p>
                  </a:txBody>
                  <a:tcPr>
                    <a:solidFill>
                      <a:srgbClr val="6B72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Author</a:t>
                      </a:r>
                    </a:p>
                  </a:txBody>
                  <a:tcPr>
                    <a:solidFill>
                      <a:srgbClr val="6B72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Summary</a:t>
                      </a:r>
                    </a:p>
                  </a:txBody>
                  <a:tcPr>
                    <a:solidFill>
                      <a:srgbClr val="6B728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</a:rPr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</a:rPr>
                        <a:t>2026-04-20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</a:rPr>
                        <a:t>이석호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</a:rPr>
                        <a:t>초안 작성 — IA 트리 + 로그인 화면 상세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</a:rP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</a:rPr>
                        <a:t>2026-04-25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</a:rPr>
                        <a:t>이석호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</a:rPr>
                        <a:t>회원가입 / 핀번호 등록 / 더보기 화면 추가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11827"/>
                </a:solidFill>
              </a:rPr>
              <a:t>IA / Site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280"/>
                </a:solidFill>
              </a:rPr>
              <a:t>월렛지기 v0.1 스토리보드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0" y="274320"/>
            <a:ext cx="4114800" cy="8229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7909560" y="365760"/>
            <a:ext cx="164592" cy="1645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138160" y="34747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11827"/>
                </a:solidFill>
              </a:rPr>
              <a:t>진입/계정</a:t>
            </a:r>
          </a:p>
        </p:txBody>
      </p:sp>
      <p:sp>
        <p:nvSpPr>
          <p:cNvPr id="7" name="Rectangle 6"/>
          <p:cNvSpPr/>
          <p:nvPr/>
        </p:nvSpPr>
        <p:spPr>
          <a:xfrm>
            <a:off x="9921240" y="365760"/>
            <a:ext cx="164592" cy="164592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149840" y="34747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11827"/>
                </a:solidFill>
              </a:rPr>
              <a:t>메인</a:t>
            </a:r>
          </a:p>
        </p:txBody>
      </p:sp>
      <p:sp>
        <p:nvSpPr>
          <p:cNvPr id="9" name="Rectangle 8"/>
          <p:cNvSpPr/>
          <p:nvPr/>
        </p:nvSpPr>
        <p:spPr>
          <a:xfrm>
            <a:off x="7909560" y="640080"/>
            <a:ext cx="164592" cy="164592"/>
          </a:xfrm>
          <a:prstGeom prst="rect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138160" y="62179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11827"/>
                </a:solidFill>
              </a:rPr>
              <a:t>부가기능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21240" y="640080"/>
            <a:ext cx="164592" cy="164592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0" y="62179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11827"/>
                </a:solidFill>
              </a:rPr>
              <a:t>설정·관리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1188720"/>
            <a:ext cx="182880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365760" y="1188720"/>
            <a:ext cx="1828800" cy="274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57200" y="122529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스플래시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" y="1508760"/>
            <a:ext cx="228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150876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111827"/>
                </a:solidFill>
              </a:rPr>
              <a:t>초기 진입 화면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60320" y="1188720"/>
            <a:ext cx="182880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2560320" y="1188720"/>
            <a:ext cx="1828800" cy="274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2651760" y="122529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튜토리얼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33472" y="1508760"/>
            <a:ext cx="228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52928" y="150876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111827"/>
                </a:solidFill>
              </a:rPr>
              <a:t>최초 1회 안내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0" y="1188720"/>
            <a:ext cx="1828800" cy="1005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4754880" y="1188720"/>
            <a:ext cx="1828800" cy="274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846320" y="122529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로그인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28032" y="1508760"/>
            <a:ext cx="228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47488" y="150876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111827"/>
                </a:solidFill>
              </a:rPr>
              <a:t>아이디/비밀번호 로그인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28032" y="1709928"/>
            <a:ext cx="228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111827"/>
                </a:solidFill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47488" y="1709928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111827"/>
                </a:solidFill>
              </a:rPr>
              <a:t>간편 로그인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28032" y="1911096"/>
            <a:ext cx="228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111827"/>
                </a:solidFill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47488" y="1911096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111827"/>
                </a:solidFill>
              </a:rPr>
              <a:t>핀번호 로그인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0" y="2423160"/>
            <a:ext cx="182880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4754880" y="2423160"/>
            <a:ext cx="1828800" cy="274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4846320" y="245973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회원가입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28032" y="2743200"/>
            <a:ext cx="228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47488" y="274320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111827"/>
                </a:solidFill>
              </a:rPr>
              <a:t>정보 입력 및 약관 동의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28032" y="2944368"/>
            <a:ext cx="228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111827"/>
                </a:solidFill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7488" y="2944368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111827"/>
                </a:solidFill>
              </a:rPr>
              <a:t>이메일 인증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949440" y="1188720"/>
            <a:ext cx="182880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6949440" y="1188720"/>
            <a:ext cx="1828800" cy="274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040880" y="122529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비밀번호 찾기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22592" y="1508760"/>
            <a:ext cx="228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42048" y="150876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111827"/>
                </a:solidFill>
              </a:rPr>
              <a:t>비밀번호 초기화 메일 발송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949440" y="2331720"/>
            <a:ext cx="1828800" cy="2428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6949440" y="2331720"/>
            <a:ext cx="1828800" cy="274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040880" y="236829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핀번호 및 인증 등록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22592" y="2651760"/>
            <a:ext cx="228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42048" y="265176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111827"/>
                </a:solidFill>
              </a:rPr>
              <a:t>핀번호 등록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0" y="2852928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6B7280"/>
                </a:solidFill>
              </a:rPr>
              <a:t>• 핀번호 신규입력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0" y="3017520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6B7280"/>
                </a:solidFill>
              </a:rPr>
              <a:t>• 사용여부 확인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0" y="3182112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6B7280"/>
                </a:solidFill>
              </a:rPr>
              <a:t>• 핀번호 재입력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22592" y="3346704"/>
            <a:ext cx="228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111827"/>
                </a:solidFill>
              </a:rPr>
              <a:t>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42048" y="3346704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111827"/>
                </a:solidFill>
              </a:rPr>
              <a:t>패턴 등록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0" y="3547872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6B7280"/>
                </a:solidFill>
              </a:rPr>
              <a:t>• 패턴 신규입력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200" y="3712464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6B7280"/>
                </a:solidFill>
              </a:rPr>
              <a:t>• 사용여부 확인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15200" y="3877056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6B7280"/>
                </a:solidFill>
              </a:rPr>
              <a:t>• 패턴 재입력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22592" y="4041648"/>
            <a:ext cx="228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111827"/>
                </a:solidFill>
              </a:rPr>
              <a:t>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42048" y="4041648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111827"/>
                </a:solidFill>
              </a:rPr>
              <a:t>바이오인증 사용(지원시)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15200" y="4242816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6B7280"/>
                </a:solidFill>
              </a:rPr>
              <a:t>• 지문/Face ID 사용여부 확인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0" y="4407408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6B7280"/>
                </a:solidFill>
              </a:rPr>
              <a:t>• 지문/Face ID 등록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144000" y="1188720"/>
            <a:ext cx="1828800" cy="3342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Rectangle 61"/>
          <p:cNvSpPr/>
          <p:nvPr/>
        </p:nvSpPr>
        <p:spPr>
          <a:xfrm>
            <a:off x="9144000" y="1188720"/>
            <a:ext cx="1828800" cy="274320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9235440" y="122529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홈메인 (월렛)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217152" y="1508760"/>
            <a:ext cx="228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436608" y="150876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111827"/>
                </a:solidFill>
              </a:rPr>
              <a:t>알림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217152" y="1709928"/>
            <a:ext cx="228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111827"/>
                </a:solidFill>
              </a:rPr>
              <a:t>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436608" y="1709928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111827"/>
                </a:solidFill>
              </a:rPr>
              <a:t>사용 내역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509760" y="1911096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6B7280"/>
                </a:solidFill>
              </a:rPr>
              <a:t>• 지갑 QR코드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217152" y="2075688"/>
            <a:ext cx="228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111827"/>
                </a:solidFill>
              </a:rPr>
              <a:t>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436608" y="2075688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111827"/>
                </a:solidFill>
              </a:rPr>
              <a:t>보내기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509760" y="2276856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6B7280"/>
                </a:solidFill>
              </a:rPr>
              <a:t>• 보안비밀번호 등록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509760" y="2441448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6B7280"/>
                </a:solidFill>
              </a:rPr>
              <a:t>• 이체정보입력 — QR코드 검색 / 회원 검색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509760" y="2606040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6B7280"/>
                </a:solidFill>
              </a:rPr>
              <a:t>• 이체완료/확인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217152" y="2770632"/>
            <a:ext cx="228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111827"/>
                </a:solidFill>
              </a:rPr>
              <a:t>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436608" y="27706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111827"/>
                </a:solidFill>
              </a:rPr>
              <a:t>입출금 내역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509760" y="2971800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6B7280"/>
                </a:solidFill>
              </a:rPr>
              <a:t>• 전체 입출금내역 조회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509760" y="3136392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6B7280"/>
                </a:solidFill>
              </a:rPr>
              <a:t>• 내역 상세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217152" y="3300984"/>
            <a:ext cx="228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111827"/>
                </a:solidFill>
              </a:rPr>
              <a:t>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436608" y="3300984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111827"/>
                </a:solidFill>
              </a:rPr>
              <a:t>운동 정보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217152" y="3502152"/>
            <a:ext cx="228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111827"/>
                </a:solidFill>
              </a:rPr>
              <a:t>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436608" y="350215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111827"/>
                </a:solidFill>
              </a:rPr>
              <a:t>소식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217152" y="3703320"/>
            <a:ext cx="228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111827"/>
                </a:solidFill>
              </a:rPr>
              <a:t>7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436608" y="370332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111827"/>
                </a:solidFill>
              </a:rPr>
              <a:t>스토어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235440" y="3950208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DC2626"/>
                </a:solidFill>
              </a:rPr>
              <a:t>※ MVP 때 스토어가 없다면 스토어 대신 마이너 관리 페이지를 위치?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9144000" y="4759960"/>
            <a:ext cx="182880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Rectangle 85"/>
          <p:cNvSpPr/>
          <p:nvPr/>
        </p:nvSpPr>
        <p:spPr>
          <a:xfrm>
            <a:off x="9144000" y="4759960"/>
            <a:ext cx="1828800" cy="274320"/>
          </a:xfrm>
          <a:prstGeom prst="rect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TextBox 86"/>
          <p:cNvSpPr txBox="1"/>
          <p:nvPr/>
        </p:nvSpPr>
        <p:spPr>
          <a:xfrm>
            <a:off x="9235440" y="479653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소식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217152" y="5080000"/>
            <a:ext cx="228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436608" y="508000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111827"/>
                </a:solidFill>
              </a:rPr>
              <a:t>타임라인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509760" y="5281168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6B7280"/>
                </a:solidFill>
              </a:rPr>
              <a:t>• 소식 리스트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509760" y="5445760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6B7280"/>
                </a:solidFill>
              </a:rPr>
              <a:t>• 소식 상세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9144000" y="5902960"/>
            <a:ext cx="182880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Rectangle 92"/>
          <p:cNvSpPr/>
          <p:nvPr/>
        </p:nvSpPr>
        <p:spPr>
          <a:xfrm>
            <a:off x="9144000" y="5902960"/>
            <a:ext cx="1828800" cy="274320"/>
          </a:xfrm>
          <a:prstGeom prst="rect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TextBox 93"/>
          <p:cNvSpPr txBox="1"/>
          <p:nvPr/>
        </p:nvSpPr>
        <p:spPr>
          <a:xfrm>
            <a:off x="9235440" y="593953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스토어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217152" y="6223000"/>
            <a:ext cx="228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436608" y="622300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111827"/>
                </a:solidFill>
              </a:rPr>
              <a:t>(MVP에서 보류 가능 — open_question 참조)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9144000" y="7045960"/>
            <a:ext cx="1828800" cy="499363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Rectangle 97"/>
          <p:cNvSpPr/>
          <p:nvPr/>
        </p:nvSpPr>
        <p:spPr>
          <a:xfrm>
            <a:off x="9144000" y="7045960"/>
            <a:ext cx="1828800" cy="27432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TextBox 98"/>
          <p:cNvSpPr txBox="1"/>
          <p:nvPr/>
        </p:nvSpPr>
        <p:spPr>
          <a:xfrm>
            <a:off x="9235440" y="708253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더보기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217152" y="7366000"/>
            <a:ext cx="228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436608" y="736600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111827"/>
                </a:solidFill>
              </a:rPr>
              <a:t>내 정보 (회원정보관리)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509760" y="7567168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6B7280"/>
                </a:solidFill>
              </a:rPr>
              <a:t>• 이메일 변경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509760" y="7731760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6B7280"/>
                </a:solidFill>
              </a:rPr>
              <a:t>• 로그인 이력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509760" y="7896352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6B7280"/>
                </a:solidFill>
              </a:rPr>
              <a:t>• 비밀번호 변경/찾기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217152" y="8060944"/>
            <a:ext cx="228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111827"/>
                </a:solidFill>
              </a:rPr>
              <a:t>2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436608" y="8060944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111827"/>
                </a:solidFill>
              </a:rPr>
              <a:t>인증수단관리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509760" y="8262112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6B7280"/>
                </a:solidFill>
              </a:rPr>
              <a:t>• 패턴 변경 및 재설정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509760" y="8426704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6B7280"/>
                </a:solidFill>
              </a:rPr>
              <a:t>• 핀번호 변경 및 재설정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509760" y="8591296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6B7280"/>
                </a:solidFill>
              </a:rPr>
              <a:t>• 보안비밀번호 등록 및 재설정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217152" y="8755888"/>
            <a:ext cx="228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111827"/>
                </a:solidFill>
              </a:rPr>
              <a:t>3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436608" y="8755888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111827"/>
                </a:solidFill>
              </a:rPr>
              <a:t>연동 앱 정보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217152" y="8957056"/>
            <a:ext cx="228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111827"/>
                </a:solidFill>
              </a:rPr>
              <a:t>4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436608" y="8957056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111827"/>
                </a:solidFill>
              </a:rPr>
              <a:t>고객센터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509760" y="9158224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6B7280"/>
                </a:solidFill>
              </a:rPr>
              <a:t>• FAQ 리스트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509760" y="9322816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6B7280"/>
                </a:solidFill>
              </a:rPr>
              <a:t>• FAQ 상세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509760" y="9487408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6B7280"/>
                </a:solidFill>
              </a:rPr>
              <a:t>• 1:1문의 작성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509760" y="9652000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6B7280"/>
                </a:solidFill>
              </a:rPr>
              <a:t>• 1:1문의 리스트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217152" y="9816592"/>
            <a:ext cx="228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111827"/>
                </a:solidFill>
              </a:rPr>
              <a:t>5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436608" y="981659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111827"/>
                </a:solidFill>
              </a:rPr>
              <a:t>알림 설정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217152" y="10017760"/>
            <a:ext cx="228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111827"/>
                </a:solidFill>
              </a:rPr>
              <a:t>6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436608" y="1001776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111827"/>
                </a:solidFill>
              </a:rPr>
              <a:t>공지사항/이벤트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509760" y="10218928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6B7280"/>
                </a:solidFill>
              </a:rPr>
              <a:t>• 공지사항 리스트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509760" y="10383520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6B7280"/>
                </a:solidFill>
              </a:rPr>
              <a:t>• 공지사항 상세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509760" y="10548112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6B7280"/>
                </a:solidFill>
              </a:rPr>
              <a:t>• 이벤트 리스트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509760" y="10712704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6B7280"/>
                </a:solidFill>
              </a:rPr>
              <a:t>• 이벤트 상세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9217152" y="10877296"/>
            <a:ext cx="228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111827"/>
                </a:solidFill>
              </a:rPr>
              <a:t>7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436608" y="10877296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111827"/>
                </a:solidFill>
              </a:rPr>
              <a:t>서비스 정책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9509760" y="11078464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6B7280"/>
                </a:solidFill>
              </a:rPr>
              <a:t>• 이용약관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509760" y="11243056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6B7280"/>
                </a:solidFill>
              </a:rPr>
              <a:t>• 개인정보취급방침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9217152" y="11407648"/>
            <a:ext cx="228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111827"/>
                </a:solidFill>
              </a:rPr>
              <a:t>8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9436608" y="11407648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111827"/>
                </a:solidFill>
              </a:rPr>
              <a:t>버전 정보</a:t>
            </a:r>
          </a:p>
        </p:txBody>
      </p:sp>
      <p:cxnSp>
        <p:nvCxnSpPr>
          <p:cNvPr id="132" name="Connector 131"/>
          <p:cNvCxnSpPr/>
          <p:nvPr/>
        </p:nvCxnSpPr>
        <p:spPr>
          <a:xfrm>
            <a:off x="2194560" y="1645920.0"/>
            <a:ext cx="365760" cy="0.0"/>
          </a:xfrm>
          <a:prstGeom prst="line">
            <a:avLst/>
          </a:prstGeom>
          <a:ln w="9525">
            <a:solidFill>
              <a:srgbClr val="6B72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4389120" y="1645920.0"/>
            <a:ext cx="365760" cy="45720.0"/>
          </a:xfrm>
          <a:prstGeom prst="line">
            <a:avLst/>
          </a:prstGeom>
          <a:ln w="9525">
            <a:solidFill>
              <a:srgbClr val="6B72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4389120" y="1645920.0"/>
            <a:ext cx="365760" cy="1234440.0"/>
          </a:xfrm>
          <a:prstGeom prst="line">
            <a:avLst/>
          </a:prstGeom>
          <a:ln w="9525">
            <a:solidFill>
              <a:srgbClr val="6B72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TextBox 134"/>
          <p:cNvSpPr txBox="1"/>
          <p:nvPr/>
        </p:nvSpPr>
        <p:spPr>
          <a:xfrm>
            <a:off x="4114800" y="215341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111827"/>
                </a:solidFill>
              </a:rPr>
              <a:t>신규</a:t>
            </a:r>
          </a:p>
        </p:txBody>
      </p:sp>
      <p:cxnSp>
        <p:nvCxnSpPr>
          <p:cNvPr id="136" name="Connector 135"/>
          <p:cNvCxnSpPr/>
          <p:nvPr/>
        </p:nvCxnSpPr>
        <p:spPr>
          <a:xfrm flipV="1">
            <a:off x="6583680" y="1645920.0"/>
            <a:ext cx="365760" cy="45720.0"/>
          </a:xfrm>
          <a:prstGeom prst="line">
            <a:avLst/>
          </a:prstGeom>
          <a:ln w="9525">
            <a:solidFill>
              <a:srgbClr val="6B72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TextBox 136"/>
          <p:cNvSpPr txBox="1"/>
          <p:nvPr/>
        </p:nvSpPr>
        <p:spPr>
          <a:xfrm>
            <a:off x="6309360" y="155905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111827"/>
                </a:solidFill>
              </a:rPr>
              <a:t>비번 분실</a:t>
            </a:r>
          </a:p>
        </p:txBody>
      </p:sp>
      <p:cxnSp>
        <p:nvCxnSpPr>
          <p:cNvPr id="138" name="Connector 137"/>
          <p:cNvCxnSpPr/>
          <p:nvPr/>
        </p:nvCxnSpPr>
        <p:spPr>
          <a:xfrm>
            <a:off x="6583680" y="1691640.0"/>
            <a:ext cx="2560320" cy="1168400.0"/>
          </a:xfrm>
          <a:prstGeom prst="line">
            <a:avLst/>
          </a:prstGeom>
          <a:ln w="19050">
            <a:solidFill>
              <a:srgbClr val="1F293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6583680" y="2880360.0"/>
            <a:ext cx="365760" cy="665480.0"/>
          </a:xfrm>
          <a:prstGeom prst="line">
            <a:avLst/>
          </a:prstGeom>
          <a:ln w="9525">
            <a:solidFill>
              <a:srgbClr val="6B72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8778240" y="2860040.0"/>
            <a:ext cx="365760" cy="685800.0"/>
          </a:xfrm>
          <a:prstGeom prst="line">
            <a:avLst/>
          </a:prstGeom>
          <a:ln w="9525">
            <a:solidFill>
              <a:srgbClr val="6B72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10058400.0" y="4531360"/>
            <a:ext cx="0.0" cy="228600"/>
          </a:xfrm>
          <a:prstGeom prst="line">
            <a:avLst/>
          </a:prstGeom>
          <a:ln w="9525">
            <a:solidFill>
              <a:srgbClr val="6B72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10058400.0" y="4531360"/>
            <a:ext cx="0.0" cy="1371600"/>
          </a:xfrm>
          <a:prstGeom prst="line">
            <a:avLst/>
          </a:prstGeom>
          <a:ln w="9525">
            <a:solidFill>
              <a:srgbClr val="6B72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10058400.0" y="4531360"/>
            <a:ext cx="0.0" cy="2514600"/>
          </a:xfrm>
          <a:prstGeom prst="line">
            <a:avLst/>
          </a:prstGeom>
          <a:ln w="9525">
            <a:solidFill>
              <a:srgbClr val="6B72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11827"/>
                </a:solidFill>
              </a:rPr>
              <a:t>5. 와이어프레임 &amp; 기능 디스크립션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77240"/>
            <a:ext cx="731520" cy="320040"/>
          </a:xfrm>
          <a:prstGeom prst="rect">
            <a:avLst/>
          </a:prstGeom>
          <a:solidFill>
            <a:srgbClr val="6B7280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65760" y="813816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PATH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777240"/>
            <a:ext cx="64008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188720" y="822960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11827"/>
                </a:solidFill>
              </a:rPr>
              <a:t>진입 &gt; 로그인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28016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3B82F6"/>
                </a:solidFill>
              </a:rPr>
              <a:t>기본 입력 박스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28800"/>
            <a:ext cx="2194560" cy="127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65760" y="1600200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280"/>
                </a:solidFill>
              </a:rPr>
              <a:t>비밀번호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05740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3B82F6"/>
                </a:solidFill>
              </a:rPr>
              <a:t>포커스 인 상태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606040"/>
            <a:ext cx="2194560" cy="127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65760" y="2642616"/>
            <a:ext cx="2194560" cy="254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65760" y="2377440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280"/>
                </a:solidFill>
              </a:rPr>
              <a:t>비밀번호 |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83464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3B82F6"/>
                </a:solidFill>
              </a:rPr>
              <a:t>이메일 입력 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383280"/>
            <a:ext cx="2194560" cy="127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2395728" y="3218688"/>
            <a:ext cx="128016" cy="128016"/>
          </a:xfrm>
          <a:prstGeom prst="ellipse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154680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11827"/>
                </a:solidFill>
              </a:rPr>
              <a:t>germ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61188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3B82F6"/>
                </a:solidFill>
              </a:rPr>
              <a:t>입력 텍스트 숨김 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160520"/>
            <a:ext cx="2194560" cy="127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65760" y="3931920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11827"/>
                </a:solidFill>
              </a:rPr>
              <a:t>●●●m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3891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3B82F6"/>
                </a:solidFill>
              </a:rPr>
              <a:t>포커스 아웃 - Valid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937760"/>
            <a:ext cx="2194560" cy="127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365760" y="4974336"/>
            <a:ext cx="2194560" cy="254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365760" y="4709160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280"/>
                </a:solidFill>
              </a:rPr>
              <a:t>●●●●●●●●●●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516636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3B82F6"/>
                </a:solidFill>
              </a:rPr>
              <a:t>포커스 아웃 - Invalid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715000"/>
            <a:ext cx="2194560" cy="127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365760" y="5751576"/>
            <a:ext cx="2194560" cy="254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365760" y="5806440"/>
            <a:ext cx="21945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DC2626"/>
                </a:solidFill>
              </a:rPr>
              <a:t>이메일 또는 비밀번호를 다시 확인해주세요.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5486400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280"/>
                </a:solidFill>
              </a:rPr>
              <a:t>germweapon@gmail.com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697480" y="1280160"/>
            <a:ext cx="4937760" cy="530352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3154680" y="356616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</a:rPr>
              <a:t>(메인 목업: 디자인 시안 업로드 또는 wireframe 자동 생성 필요)</a:t>
            </a:r>
          </a:p>
        </p:txBody>
      </p:sp>
      <p:sp>
        <p:nvSpPr>
          <p:cNvPr id="32" name="Oval 31"/>
          <p:cNvSpPr/>
          <p:nvPr/>
        </p:nvSpPr>
        <p:spPr>
          <a:xfrm>
            <a:off x="5020056" y="3361334"/>
            <a:ext cx="292608" cy="29260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0056" y="3379622"/>
            <a:ext cx="29260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4" name="Oval 33"/>
          <p:cNvSpPr/>
          <p:nvPr/>
        </p:nvSpPr>
        <p:spPr>
          <a:xfrm>
            <a:off x="5020056" y="3891686"/>
            <a:ext cx="292608" cy="29260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0056" y="3909974"/>
            <a:ext cx="29260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6" name="Oval 35"/>
          <p:cNvSpPr/>
          <p:nvPr/>
        </p:nvSpPr>
        <p:spPr>
          <a:xfrm>
            <a:off x="5020056" y="4634179"/>
            <a:ext cx="292608" cy="29260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0056" y="4652467"/>
            <a:ext cx="29260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38" name="Oval 37"/>
          <p:cNvSpPr/>
          <p:nvPr/>
        </p:nvSpPr>
        <p:spPr>
          <a:xfrm>
            <a:off x="5760720" y="5058460"/>
            <a:ext cx="292608" cy="29260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60720" y="507674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40" name="Oval 39"/>
          <p:cNvSpPr/>
          <p:nvPr/>
        </p:nvSpPr>
        <p:spPr>
          <a:xfrm>
            <a:off x="5020056" y="5588812"/>
            <a:ext cx="292608" cy="29260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0056" y="56071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72400" y="1280160"/>
            <a:ext cx="4206240" cy="27432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7909560" y="132588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Function Description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0" y="1554480"/>
            <a:ext cx="420624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7772400" y="1554480"/>
            <a:ext cx="365760" cy="1207008"/>
          </a:xfrm>
          <a:prstGeom prst="rect">
            <a:avLst/>
          </a:prstGeom>
          <a:solidFill>
            <a:srgbClr val="F8FAFC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772400" y="160020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0" y="159105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111827"/>
                </a:solidFill>
              </a:rPr>
              <a:t>• 이메일 인풋 박스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66760" y="1810512"/>
            <a:ext cx="35204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111827"/>
                </a:solidFill>
              </a:rPr>
              <a:t>- 텍스트 입력 제한 — 320자 초과 입력 막음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66760" y="2029968"/>
            <a:ext cx="35204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111827"/>
                </a:solidFill>
              </a:rPr>
              <a:t>- 주소 앞자리 64자 + @ + 도메인 255자 (최대 320자)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66760" y="2249424"/>
            <a:ext cx="35204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111827"/>
                </a:solidFill>
              </a:rPr>
              <a:t>- 영문/숫자/일부 기호('_'(언더바), '.'(마침표)) 사용 가능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66760" y="2468880"/>
            <a:ext cx="35204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111827"/>
                </a:solidFill>
              </a:rPr>
              <a:t>- 이메일 형식 유효성 체크: XXX@XXX.XXX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772400" y="2761488"/>
            <a:ext cx="4206240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7772400" y="2761488"/>
            <a:ext cx="365760" cy="987552"/>
          </a:xfrm>
          <a:prstGeom prst="rect">
            <a:avLst/>
          </a:prstGeom>
          <a:solidFill>
            <a:srgbClr val="F8FAFC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7772400" y="280720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</a:rPr>
              <a:t>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29600" y="2798064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111827"/>
                </a:solidFill>
              </a:rPr>
              <a:t>• 비밀번호 인풋 박스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66760" y="3017520"/>
            <a:ext cx="35204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111827"/>
                </a:solidFill>
              </a:rPr>
              <a:t>- 텍스트 입력 제한 — 8자 이상의 문자/숫자/기호 입력 가능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66760" y="3236976"/>
            <a:ext cx="35204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111827"/>
                </a:solidFill>
              </a:rPr>
              <a:t>- 비밀번호 표시 버튼 — 입력 시 실시간 숨김 처리, 표시 버튼 클릭 시 노출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66760" y="3456432"/>
            <a:ext cx="35204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111827"/>
                </a:solidFill>
              </a:rPr>
              <a:t>- Cancel 버튼은 비밀번호 표시 버튼의 좌측에 위치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772400" y="3886200"/>
            <a:ext cx="4206240" cy="27432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7909560" y="393192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Button Description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772400" y="4160520"/>
            <a:ext cx="4206240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Rectangle 61"/>
          <p:cNvSpPr/>
          <p:nvPr/>
        </p:nvSpPr>
        <p:spPr>
          <a:xfrm>
            <a:off x="7772400" y="4160520"/>
            <a:ext cx="365760" cy="987552"/>
          </a:xfrm>
          <a:prstGeom prst="rect">
            <a:avLst/>
          </a:prstGeom>
          <a:solidFill>
            <a:srgbClr val="F8FAFC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7772400" y="420624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</a:rPr>
              <a:t>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29600" y="419709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111827"/>
                </a:solidFill>
              </a:rPr>
              <a:t>• [로그인] Submit 버튼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66760" y="4416552"/>
            <a:ext cx="35204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111827"/>
                </a:solidFill>
              </a:rPr>
              <a:t>- 이메일 + 비밀번호 인풋 박스 유효 시 활성화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66760" y="4636008"/>
            <a:ext cx="35204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111827"/>
                </a:solidFill>
              </a:rPr>
              <a:t>- 활성화 클릭 시 — 데이터 유효성 체크 후 Invalid면 Validation message 표시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66760" y="4855464"/>
            <a:ext cx="35204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111827"/>
                </a:solidFill>
              </a:rPr>
              <a:t>- 로그인 정보 10회 불일치 시 계정 잠금 + 안내 메일 발송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772400" y="5148072"/>
            <a:ext cx="4206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Rectangle 68"/>
          <p:cNvSpPr/>
          <p:nvPr/>
        </p:nvSpPr>
        <p:spPr>
          <a:xfrm>
            <a:off x="7772400" y="5148072"/>
            <a:ext cx="365760" cy="548640"/>
          </a:xfrm>
          <a:prstGeom prst="rect">
            <a:avLst/>
          </a:prstGeom>
          <a:solidFill>
            <a:srgbClr val="F8FAFC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7772400" y="519379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</a:rPr>
              <a:t>B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229600" y="5184648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111827"/>
                </a:solidFill>
              </a:rPr>
              <a:t>• 비밀번호 찾기 텍스트 링크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366760" y="5404104"/>
            <a:ext cx="35204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111827"/>
                </a:solidFill>
              </a:rPr>
              <a:t>- 비밀번호 재설정 페이지로 이동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772400" y="5696712"/>
            <a:ext cx="4206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Rectangle 73"/>
          <p:cNvSpPr/>
          <p:nvPr/>
        </p:nvSpPr>
        <p:spPr>
          <a:xfrm>
            <a:off x="7772400" y="5696712"/>
            <a:ext cx="365760" cy="548640"/>
          </a:xfrm>
          <a:prstGeom prst="rect">
            <a:avLst/>
          </a:prstGeom>
          <a:solidFill>
            <a:srgbClr val="F8FAFC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7772400" y="574243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</a:rPr>
              <a:t>C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229600" y="5733288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111827"/>
                </a:solidFill>
              </a:rPr>
              <a:t>• [회원가입] 버튼 링크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366760" y="5952744"/>
            <a:ext cx="35204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111827"/>
                </a:solidFill>
              </a:rPr>
              <a:t>- 회원가입 페이지로 이동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772400" y="6382512"/>
            <a:ext cx="457200" cy="365760"/>
          </a:xfrm>
          <a:prstGeom prst="rect">
            <a:avLst/>
          </a:prstGeom>
          <a:solidFill>
            <a:srgbClr val="9CA3AF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TextBox 78"/>
          <p:cNvSpPr txBox="1"/>
          <p:nvPr/>
        </p:nvSpPr>
        <p:spPr>
          <a:xfrm>
            <a:off x="7818120" y="642823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체크
시점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229600" y="6382512"/>
            <a:ext cx="914400" cy="365760"/>
          </a:xfrm>
          <a:prstGeom prst="rect">
            <a:avLst/>
          </a:prstGeom>
          <a:solidFill>
            <a:srgbClr val="9CA3AF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TextBox 80"/>
          <p:cNvSpPr txBox="1"/>
          <p:nvPr/>
        </p:nvSpPr>
        <p:spPr>
          <a:xfrm>
            <a:off x="8275320" y="6428232"/>
            <a:ext cx="822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조건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144000" y="6382512"/>
            <a:ext cx="2011680" cy="365760"/>
          </a:xfrm>
          <a:prstGeom prst="rect">
            <a:avLst/>
          </a:prstGeom>
          <a:solidFill>
            <a:srgbClr val="9CA3AF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9189720" y="6428232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메시지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1155680" y="6382512"/>
            <a:ext cx="822960" cy="365760"/>
          </a:xfrm>
          <a:prstGeom prst="rect">
            <a:avLst/>
          </a:prstGeom>
          <a:solidFill>
            <a:srgbClr val="9CA3AF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TextBox 84"/>
          <p:cNvSpPr txBox="1"/>
          <p:nvPr/>
        </p:nvSpPr>
        <p:spPr>
          <a:xfrm>
            <a:off x="11201400" y="6428232"/>
            <a:ext cx="731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노출유형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772400" y="6748272"/>
            <a:ext cx="45720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TextBox 86"/>
          <p:cNvSpPr txBox="1"/>
          <p:nvPr/>
        </p:nvSpPr>
        <p:spPr>
          <a:xfrm>
            <a:off x="7772400" y="67939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11827"/>
                </a:solidFill>
              </a:rPr>
              <a:t>2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229600" y="6748272"/>
            <a:ext cx="91440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TextBox 88"/>
          <p:cNvSpPr txBox="1"/>
          <p:nvPr/>
        </p:nvSpPr>
        <p:spPr>
          <a:xfrm>
            <a:off x="8275320" y="6793992"/>
            <a:ext cx="82296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111827"/>
                </a:solidFill>
              </a:rPr>
              <a:t>이메일 형식 오류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144000" y="6748272"/>
            <a:ext cx="201168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TextBox 90"/>
          <p:cNvSpPr txBox="1"/>
          <p:nvPr/>
        </p:nvSpPr>
        <p:spPr>
          <a:xfrm>
            <a:off x="9189720" y="6793992"/>
            <a:ext cx="192024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111827"/>
                </a:solidFill>
              </a:rPr>
              <a:t>이메일 주소를 확인해주세요.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1155680" y="6748272"/>
            <a:ext cx="82296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11201400" y="6793992"/>
            <a:ext cx="73152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111827"/>
                </a:solidFill>
              </a:rPr>
              <a:t>인풋박스 하단 문구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772400" y="7333488"/>
            <a:ext cx="45720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TextBox 94"/>
          <p:cNvSpPr txBox="1"/>
          <p:nvPr/>
        </p:nvSpPr>
        <p:spPr>
          <a:xfrm>
            <a:off x="7772400" y="737920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11827"/>
                </a:solidFill>
              </a:rPr>
              <a:t>4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229600" y="7333488"/>
            <a:ext cx="91440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TextBox 96"/>
          <p:cNvSpPr txBox="1"/>
          <p:nvPr/>
        </p:nvSpPr>
        <p:spPr>
          <a:xfrm>
            <a:off x="8275320" y="7379208"/>
            <a:ext cx="82296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111827"/>
                </a:solidFill>
              </a:rPr>
              <a:t>아이디(이메일)와 비밀번호 불일치</a:t>
            </a:r>
          </a:p>
        </p:txBody>
      </p:sp>
      <p:sp>
        <p:nvSpPr>
          <p:cNvPr id="98" name="Rectangle 97"/>
          <p:cNvSpPr/>
          <p:nvPr/>
        </p:nvSpPr>
        <p:spPr>
          <a:xfrm>
            <a:off x="9144000" y="7333488"/>
            <a:ext cx="201168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TextBox 98"/>
          <p:cNvSpPr txBox="1"/>
          <p:nvPr/>
        </p:nvSpPr>
        <p:spPr>
          <a:xfrm>
            <a:off x="9189720" y="7379208"/>
            <a:ext cx="192024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111827"/>
                </a:solidFill>
              </a:rPr>
              <a:t>이메일 또는 비밀번호를 확인해주세요.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1155680" y="7333488"/>
            <a:ext cx="82296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TextBox 100"/>
          <p:cNvSpPr txBox="1"/>
          <p:nvPr/>
        </p:nvSpPr>
        <p:spPr>
          <a:xfrm>
            <a:off x="11201400" y="7379208"/>
            <a:ext cx="73152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111827"/>
                </a:solidFill>
              </a:rPr>
              <a:t>비밀번호 인풋박스 하단에 표시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772400" y="7918704"/>
            <a:ext cx="457200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TextBox 102"/>
          <p:cNvSpPr txBox="1"/>
          <p:nvPr/>
        </p:nvSpPr>
        <p:spPr>
          <a:xfrm>
            <a:off x="7772400" y="796442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11827"/>
                </a:solidFill>
              </a:rPr>
              <a:t>4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229600" y="7918704"/>
            <a:ext cx="914400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TextBox 104"/>
          <p:cNvSpPr txBox="1"/>
          <p:nvPr/>
        </p:nvSpPr>
        <p:spPr>
          <a:xfrm>
            <a:off x="8275320" y="7964424"/>
            <a:ext cx="82296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111827"/>
                </a:solidFill>
              </a:rPr>
              <a:t>계정 10회 불일치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9144000" y="7918704"/>
            <a:ext cx="2011680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TextBox 106"/>
          <p:cNvSpPr txBox="1"/>
          <p:nvPr/>
        </p:nvSpPr>
        <p:spPr>
          <a:xfrm>
            <a:off x="9189720" y="7964424"/>
            <a:ext cx="192024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111827"/>
                </a:solidFill>
              </a:rPr>
              <a:t>▶ 계정 잠금 안내</a:t>
            </a:r>
          </a:p>
          <a:p>
            <a:r>
              <a:rPr sz="900" b="0">
                <a:solidFill>
                  <a:srgbClr val="111827"/>
                </a:solidFill>
              </a:rPr>
              <a:t>로그인 정보 10회 불일치로 인해 계정이 잠겼습니다. 가입하신 이메일 주소로 비밀번호 재설정 안내 메일이 발송되었습니다.</a:t>
            </a:r>
          </a:p>
          <a:p>
            <a:r>
              <a:rPr sz="900" b="0">
                <a:solidFill>
                  <a:srgbClr val="3B82F6"/>
                </a:solidFill>
              </a:rPr>
              <a:t>[확인]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1155680" y="7918704"/>
            <a:ext cx="822960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TextBox 108"/>
          <p:cNvSpPr txBox="1"/>
          <p:nvPr/>
        </p:nvSpPr>
        <p:spPr>
          <a:xfrm>
            <a:off x="11201400" y="7964424"/>
            <a:ext cx="73152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111827"/>
                </a:solidFill>
              </a:rPr>
              <a:t>디자인 팝업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772400" y="8906256"/>
            <a:ext cx="457200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" name="TextBox 110"/>
          <p:cNvSpPr txBox="1"/>
          <p:nvPr/>
        </p:nvSpPr>
        <p:spPr>
          <a:xfrm>
            <a:off x="7772400" y="895197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11827"/>
                </a:solidFill>
              </a:rPr>
              <a:t>4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229600" y="8906256"/>
            <a:ext cx="914400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TextBox 112"/>
          <p:cNvSpPr txBox="1"/>
          <p:nvPr/>
        </p:nvSpPr>
        <p:spPr>
          <a:xfrm>
            <a:off x="8275320" y="8951976"/>
            <a:ext cx="82296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111827"/>
                </a:solidFill>
              </a:rPr>
              <a:t>사용 기기 변경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9144000" y="8906256"/>
            <a:ext cx="2011680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" name="TextBox 114"/>
          <p:cNvSpPr txBox="1"/>
          <p:nvPr/>
        </p:nvSpPr>
        <p:spPr>
          <a:xfrm>
            <a:off x="9189720" y="8951976"/>
            <a:ext cx="192024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111827"/>
                </a:solidFill>
              </a:rPr>
              <a:t>▶ 기기 변경 안내</a:t>
            </a:r>
          </a:p>
          <a:p>
            <a:r>
              <a:rPr sz="900" b="0">
                <a:solidFill>
                  <a:srgbClr val="111827"/>
                </a:solidFill>
              </a:rPr>
              <a:t>최근 사용한 기기와 다릅니다. 이메일 인증을 거쳐 해당 기기를 사용하시겠습니까?</a:t>
            </a:r>
          </a:p>
          <a:p>
            <a:r>
              <a:rPr sz="900" b="0">
                <a:solidFill>
                  <a:srgbClr val="3B82F6"/>
                </a:solidFill>
              </a:rPr>
              <a:t>[아니요] [예, 변경합니다]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1155680" y="8906256"/>
            <a:ext cx="822960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" name="TextBox 116"/>
          <p:cNvSpPr txBox="1"/>
          <p:nvPr/>
        </p:nvSpPr>
        <p:spPr>
          <a:xfrm>
            <a:off x="11201400" y="8951976"/>
            <a:ext cx="73152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111827"/>
                </a:solidFill>
              </a:rPr>
              <a:t>디자인 팝업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